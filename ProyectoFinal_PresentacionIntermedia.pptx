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8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83097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594360" y="100584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</a:rPr>
              <a:t>Sistema de Monitorización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" y="160020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9488"/>
                </a:solidFill>
              </a:rPr>
              <a:t>Climática Urbana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242316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</a:rPr>
              <a:t>Proyecto Final — Desarrollo de Aplicaciones para IoT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4360" y="301752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943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</a:rPr>
              <a:t>Open-Meteo API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194560" y="301752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21945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</a:rPr>
              <a:t>MQTT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94760" y="301752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37947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</a:rPr>
              <a:t>InfluxDB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301752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20"/>
          <p:cNvSpPr/>
          <p:nvPr/>
        </p:nvSpPr>
        <p:spPr>
          <a:xfrm>
            <a:off x="53949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</a:rPr>
              <a:t>Grafana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995160" y="3017520"/>
            <a:ext cx="1463040" cy="292608"/>
          </a:xfrm>
          <a:prstGeom prst="roundRect">
            <a:avLst>
              <a:gd name="adj" fmla="val 15625"/>
            </a:avLst>
          </a:prstGeom>
          <a:solidFill>
            <a:srgbClr val="1E3A5F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2"/>
          <p:cNvSpPr/>
          <p:nvPr/>
        </p:nvSpPr>
        <p:spPr>
          <a:xfrm>
            <a:off x="6995160" y="30175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0D9488"/>
                </a:solidFill>
              </a:rPr>
              <a:t>Jupyter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</a:rPr>
              <a:t>Entrega Parcial  ·  23 de Abril de 2026  ·  Deusto — Facultad de Ingeniería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</a:rPr>
              <a:t>Contenido de la presentación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7432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566928" y="10789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0972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Contexto y motivación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¿Por qué este proyecto?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00600" y="100584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800600" y="100584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910328" y="107899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349240" y="109728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Definición del problema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49240" y="1508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Dominio, objetivo y caso de uso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457200" y="219456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566928" y="22677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22860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Fuente de datos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Open-Meteo API — histórico y tiempo real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00600" y="21945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4800600" y="219456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910328" y="226771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49240" y="228600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Arquitectura del sistema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4924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Diseño independiente de tecnología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38328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457200" y="338328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566928" y="34564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05840" y="3474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Stack tecnológico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886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Herramientas seleccionadas por módulo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338328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800600" y="3383280"/>
            <a:ext cx="54864" cy="10058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910328" y="3456432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9488"/>
                </a:solidFill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49240" y="3474720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Plan de trabajo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49240" y="38862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Hitos, reparto y siguientes pasos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01 — Contexto y Motivación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IoT en crecimiento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1163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Miles de sensores climáticos generan datos en tiempo real que necesitan ser recogidos, procesados y analizados de forma eficiente.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4300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3360420" y="1371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Necesidad urbana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60420" y="161163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Las ciudades necesitan sistemas de monitorización para tomar decisiones sobre calidad del aire, alertas de temperatura y planificación urbana.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14300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6217920" y="13716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Ciclo de vida del dato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1163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Este proyecto cubre de principio a fin el pipeline de datos: captura → envío → procesamiento → persistencia → visualización → analítica.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02 — Definición del Problema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148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¿Qué resolvemos?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201168" cy="2011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749808" y="173736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Monitorizar variables climáticas de 4 ciudades españolas en tiempo real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496312"/>
            <a:ext cx="201168" cy="2011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7"/>
          <p:cNvSpPr/>
          <p:nvPr/>
        </p:nvSpPr>
        <p:spPr>
          <a:xfrm>
            <a:off x="749808" y="245059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Detectar anomalías y patrones en los datos históricos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209544"/>
            <a:ext cx="201168" cy="2011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749808" y="3163824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Ofrecer un dashboard accesible con alertas configurables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22776"/>
            <a:ext cx="201168" cy="20116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749808" y="387705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Permitir análisis comparativos entre ciudades y periodos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709160" y="1097280"/>
            <a:ext cx="4114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4846320" y="12344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Ciudades monitorizadas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46320" y="1664208"/>
            <a:ext cx="1691640" cy="347472"/>
          </a:xfrm>
          <a:prstGeom prst="rect">
            <a:avLst/>
          </a:prstGeom>
          <a:solidFill>
            <a:srgbClr val="E0F2FE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4919472" y="17007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Madrid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19472" y="1847088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40.42°N  3.70°O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766560" y="1664208"/>
            <a:ext cx="1691640" cy="347472"/>
          </a:xfrm>
          <a:prstGeom prst="rect">
            <a:avLst/>
          </a:prstGeom>
          <a:solidFill>
            <a:srgbClr val="E0F2FE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6839712" y="17007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Barcelona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39712" y="1847088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41.39°N  2.15°E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46320" y="2121408"/>
            <a:ext cx="1691640" cy="347472"/>
          </a:xfrm>
          <a:prstGeom prst="rect">
            <a:avLst/>
          </a:prstGeom>
          <a:solidFill>
            <a:srgbClr val="E0F2FE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4919472" y="2157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Vitoria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919472" y="2304288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</a:rPr>
              <a:t>42.85°N  2.67°O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766560" y="2121408"/>
            <a:ext cx="1691640" cy="347472"/>
          </a:xfrm>
          <a:prstGeom prst="rect">
            <a:avLst/>
          </a:prstGeom>
          <a:solidFill>
            <a:srgbClr val="E0F2FE"/>
          </a:solidFill>
          <a:ln w="635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6839712" y="215798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3A5F"/>
                </a:solidFill>
              </a:rPr>
              <a:t>Zaragoza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839712" y="2304288"/>
            <a:ext cx="1554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s-ES" sz="800" dirty="0"/>
              <a:t>41.65°N 0.88°O</a:t>
            </a:r>
          </a:p>
        </p:txBody>
      </p:sp>
      <p:sp>
        <p:nvSpPr>
          <p:cNvPr id="28" name="Shape 26"/>
          <p:cNvSpPr/>
          <p:nvPr/>
        </p:nvSpPr>
        <p:spPr>
          <a:xfrm>
            <a:off x="4709160" y="29260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4846320" y="30632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Variables capturadas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4930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🌡️ Temperatura (°C)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37216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💧 Precipitación (mm)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46320" y="39502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💨 Velocidad del viento (km/h)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46320" y="41788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💦 Humedad relativa (%)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46320" y="440740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🔵 Presión atmosférica (hPa)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03 — Fuente de Datos: Open-Meteo API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¿Por qué Open-Meteo?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71907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100% gratuita y sin API key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Datos históricos desde 1940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67004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Datos en tiempo real (forecast)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1455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F172A"/>
                </a:solidFill>
              </a:rPr>
              <a:t>Cobertura</a:t>
            </a:r>
            <a:r>
              <a:rPr lang="en-US" sz="1100" dirty="0">
                <a:solidFill>
                  <a:srgbClr val="0F172A"/>
                </a:solidFill>
              </a:rPr>
              <a:t> global con resolución 1km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6210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Respuesta JSON estructurada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09651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F172A"/>
                </a:solidFill>
              </a:rPr>
              <a:t>Open-source (licencia AGPLv3)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97280"/>
            <a:ext cx="4114800" cy="155448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46320" y="117043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Endpoint histórico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481328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archive-api.open-meteo.com/v1/archive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?latitude=40.42&amp;longitude=-3.70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&amp;start_date=2024-01-01&amp;end_date=2024-12-31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&amp;hourly=temperature_2m,precipitation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09160" y="2788920"/>
            <a:ext cx="4114800" cy="1234440"/>
          </a:xfrm>
          <a:prstGeom prst="rect">
            <a:avLst/>
          </a:prstGeom>
          <a:solidFill>
            <a:srgbClr val="0F172A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846320" y="28620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</a:rPr>
              <a:t>Endpoint tiempo real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172968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api.open-meteo.com/v1/forecast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?latitude=40.42&amp;longitude=-3.70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&amp;current=temperature_2m,wind_speed_10m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09160" y="4160520"/>
            <a:ext cx="4114800" cy="6858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9" name="Text 17"/>
          <p:cNvSpPr/>
          <p:nvPr/>
        </p:nvSpPr>
        <p:spPr>
          <a:xfrm>
            <a:off x="4846320" y="425196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📊  1 año de datos horarios × 4 ciudades = ~35.000 registros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04 — Arquitectura del Sistema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417320"/>
            <a:ext cx="1234440" cy="1371600"/>
          </a:xfrm>
          <a:prstGeom prst="rect">
            <a:avLst/>
          </a:prstGeom>
          <a:solidFill>
            <a:srgbClr val="0D6EF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Text 3"/>
          <p:cNvSpPr/>
          <p:nvPr/>
        </p:nvSpPr>
        <p:spPr>
          <a:xfrm>
            <a:off x="27432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🌐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Open-Meteo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API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508760" y="2039112"/>
            <a:ext cx="201168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37360" y="1417320"/>
            <a:ext cx="1234440" cy="137160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173736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73736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Captura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971800" y="2039112"/>
            <a:ext cx="201168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3108960" y="189280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›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234440" cy="1371600"/>
          </a:xfrm>
          <a:prstGeom prst="rect">
            <a:avLst/>
          </a:prstGeom>
          <a:solidFill>
            <a:srgbClr val="F59E0B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Text 13"/>
          <p:cNvSpPr/>
          <p:nvPr/>
        </p:nvSpPr>
        <p:spPr>
          <a:xfrm>
            <a:off x="320040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📡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20040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MQTT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Mosquitto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34840" y="2039112"/>
            <a:ext cx="201168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4572000" y="189280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›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1417320"/>
            <a:ext cx="1234440" cy="1371600"/>
          </a:xfrm>
          <a:prstGeom prst="rect">
            <a:avLst/>
          </a:prstGeom>
          <a:solidFill>
            <a:srgbClr val="0D9488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466344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Procesamiento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Pandas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97880" y="2039112"/>
            <a:ext cx="201168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6035040" y="189280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126480" y="1417320"/>
            <a:ext cx="1234440" cy="1371600"/>
          </a:xfrm>
          <a:prstGeom prst="rect">
            <a:avLst/>
          </a:prstGeom>
          <a:solidFill>
            <a:srgbClr val="7C3AED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Text 23"/>
          <p:cNvSpPr/>
          <p:nvPr/>
        </p:nvSpPr>
        <p:spPr>
          <a:xfrm>
            <a:off x="612648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🗄️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12648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InfluxDB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Persistencia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60920" y="2039112"/>
            <a:ext cx="201168" cy="54864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7498080" y="1892808"/>
            <a:ext cx="164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</a:rPr>
              <a:t>›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589520" y="1417320"/>
            <a:ext cx="1234440" cy="1371600"/>
          </a:xfrm>
          <a:prstGeom prst="rect">
            <a:avLst/>
          </a:prstGeom>
          <a:solidFill>
            <a:srgbClr val="10B981"/>
          </a:solidFill>
          <a:ln/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8"/>
          <p:cNvSpPr/>
          <p:nvPr/>
        </p:nvSpPr>
        <p:spPr>
          <a:xfrm>
            <a:off x="7589520" y="152704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7589520" y="2011680"/>
            <a:ext cx="1234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+ Jupyter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737360" y="29718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5F"/>
                </a:solidFill>
              </a:rPr>
              <a:t>Módulo 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73736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Captura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00400" y="29718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5F"/>
                </a:solidFill>
              </a:rPr>
              <a:t>Módulo 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Envío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663440" y="29718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5F"/>
                </a:solidFill>
              </a:rPr>
              <a:t>Módulo 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Procesamiento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126480" y="29718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5F"/>
                </a:solidFill>
              </a:rPr>
              <a:t>Módulo 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2648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Persistencia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589520" y="29718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3A5F"/>
                </a:solidFill>
              </a:rPr>
              <a:t>Módulo 5–6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589520" y="318211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</a:rPr>
              <a:t>Visual. + Analítica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3520440"/>
            <a:ext cx="8503920" cy="548640"/>
          </a:xfrm>
          <a:prstGeom prst="rect">
            <a:avLst/>
          </a:prstGeom>
          <a:solidFill>
            <a:srgbClr val="E0F2FE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3" name="Text 41"/>
          <p:cNvSpPr/>
          <p:nvPr/>
        </p:nvSpPr>
        <p:spPr>
          <a:xfrm>
            <a:off x="502920" y="36118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3A5F"/>
                </a:solidFill>
              </a:rPr>
              <a:t>🐳  Todo el stack se levanta con un único  docker-compose up  — reproducible por cualquier evaluador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320040" y="422452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Carga inicial histórica (batch)  →  InfluxDB directo  |  Datos en tiempo real  →  API → MQTT → InfluxDB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05 — Stack Tecnológico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5156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54864" cy="10972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457200" y="1124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9488"/>
                </a:solidFill>
              </a:rPr>
              <a:t>Captura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3807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Python + requests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190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Script que llama a Open-Meteo API cada X minutos y realiza la carga histórica inicial.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54864" cy="1097280"/>
          </a:xfrm>
          <a:prstGeom prst="rect">
            <a:avLst/>
          </a:prstGeom>
          <a:solidFill>
            <a:srgbClr val="0D6EF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4846320" y="11247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D6EFD"/>
                </a:solidFill>
              </a:rPr>
              <a:t>Envío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46320" y="13807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MQTT / Mosquitto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71907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Protocolo estándar en IoT. Broker ligero, patrón pub/sub, ideal para datos de sensores.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33172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3"/>
          <p:cNvSpPr/>
          <p:nvPr/>
        </p:nvSpPr>
        <p:spPr>
          <a:xfrm>
            <a:off x="320040" y="2331720"/>
            <a:ext cx="54864" cy="10972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457200" y="24048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59E0B"/>
                </a:solidFill>
              </a:rPr>
              <a:t>Procesamiento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26609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Python + Pandas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Limpieza de nulos, cálculo de métricas derivadas (sensación térmica, escala Beaufort).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33172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8"/>
          <p:cNvSpPr/>
          <p:nvPr/>
        </p:nvSpPr>
        <p:spPr>
          <a:xfrm>
            <a:off x="4709160" y="2331720"/>
            <a:ext cx="54864" cy="10972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4846320" y="240487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C3AED"/>
                </a:solidFill>
              </a:rPr>
              <a:t>Persistencia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266090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InfluxDB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46320" y="29992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Base de datos de series temporales diseñada para datos IoT con timestamps.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6118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3"/>
          <p:cNvSpPr/>
          <p:nvPr/>
        </p:nvSpPr>
        <p:spPr>
          <a:xfrm>
            <a:off x="320040" y="3611880"/>
            <a:ext cx="54864" cy="109728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457200" y="36850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</a:rPr>
              <a:t>Visualización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39410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Grafana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42793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Dashboard interactivo conectado a InfluxDB. Alertas configurables por umbral.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3611880"/>
            <a:ext cx="4114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Shape 28"/>
          <p:cNvSpPr/>
          <p:nvPr/>
        </p:nvSpPr>
        <p:spPr>
          <a:xfrm>
            <a:off x="4709160" y="3611880"/>
            <a:ext cx="54864" cy="109728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1" name="Text 29"/>
          <p:cNvSpPr/>
          <p:nvPr/>
        </p:nvSpPr>
        <p:spPr>
          <a:xfrm>
            <a:off x="4846320" y="368503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11D48"/>
                </a:solidFill>
              </a:rPr>
              <a:t>Analítica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846320" y="394106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Jupyter Notebook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427939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Correlaciones, detección de anomalías y tendencias estacionales con matplotlib/statsmodels.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</a:rPr>
              <a:t>06 — Plan de Trabajo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7498080" cy="4572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685800" y="2359152"/>
            <a:ext cx="320040" cy="320040"/>
          </a:xfrm>
          <a:prstGeom prst="ellipse">
            <a:avLst/>
          </a:prstGeom>
          <a:solidFill>
            <a:srgbClr val="0D9488"/>
          </a:solidFill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18288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</a:rPr>
              <a:t>Ahora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37160" y="1051560"/>
            <a:ext cx="1463040" cy="1188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228600" y="117043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Definición y diseño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8600" y="157276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CF2EE"/>
                </a:solidFill>
              </a:rPr>
              <a:t>Arquitectura, datos y tecnologías definidos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0" y="2359152"/>
            <a:ext cx="320040" cy="320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20574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</a:rPr>
              <a:t>Módulo 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011680" y="3154680"/>
            <a:ext cx="1463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2103120" y="3273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Captura + Envío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103120" y="36758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Script Python + broker MQTT funcionando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34840" y="2359152"/>
            <a:ext cx="320040" cy="320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393192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</a:rPr>
              <a:t>Módulo 4–5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886200" y="3154680"/>
            <a:ext cx="1463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ext 16"/>
          <p:cNvSpPr/>
          <p:nvPr/>
        </p:nvSpPr>
        <p:spPr>
          <a:xfrm>
            <a:off x="3977640" y="3273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Procesamiento + BD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77640" y="36758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Pipeline Pandas → InfluxDB completado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309360" y="2359152"/>
            <a:ext cx="320040" cy="320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9"/>
          <p:cNvSpPr/>
          <p:nvPr/>
        </p:nvSpPr>
        <p:spPr>
          <a:xfrm>
            <a:off x="580644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</a:rPr>
              <a:t>Módulo 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60720" y="3154680"/>
            <a:ext cx="1463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5852160" y="3273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Visualización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852160" y="36758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Dashboard Grafana con alertas activo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83880" y="2359152"/>
            <a:ext cx="320040" cy="320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768096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D9488"/>
                </a:solidFill>
              </a:rPr>
              <a:t>Junio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35240" y="3154680"/>
            <a:ext cx="1463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ext 26"/>
          <p:cNvSpPr/>
          <p:nvPr/>
        </p:nvSpPr>
        <p:spPr>
          <a:xfrm>
            <a:off x="7726680" y="3273552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</a:rPr>
              <a:t>Analítica + Entrega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26680" y="3675888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Notebook Jupyter + presentación final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Resumen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94360" y="1600200"/>
            <a:ext cx="8046720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Dominio claro: monitorización climática de 4 ciudades españolas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221992"/>
            <a:ext cx="8046720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777240" y="226771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Fuente de datos validada: Open-Meteo API (gratuita, sin límites, histórico desde 1940)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843784"/>
            <a:ext cx="8046720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777240" y="2889504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FFFFFF"/>
                </a:solidFill>
              </a:rPr>
              <a:t>Arquitectura</a:t>
            </a:r>
            <a:r>
              <a:rPr lang="en-US" sz="1200" dirty="0">
                <a:solidFill>
                  <a:srgbClr val="FFFFFF"/>
                </a:solidFill>
              </a:rPr>
              <a:t> definida: pipeline completo de 6 módulos sobre Docker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3465576"/>
            <a:ext cx="8046720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10"/>
          <p:cNvSpPr/>
          <p:nvPr/>
        </p:nvSpPr>
        <p:spPr>
          <a:xfrm>
            <a:off x="777240" y="3511296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Stack elegido: Python · MQTT · Pandas · InfluxDB · Grafana · Jupyter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4087368"/>
            <a:ext cx="8046720" cy="5029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777240" y="413308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Plan de trabajo estructurado módulo a módulo hasta la entrega final en Junio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47091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</a:rPr>
              <a:t>¿Preguntas?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727</Words>
  <Application>Microsoft Office PowerPoint</Application>
  <PresentationFormat>Presentación en pantalla (16:9)</PresentationFormat>
  <Paragraphs>161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Monitorización Climática - Entrega Parcial</dc:title>
  <dc:subject>PptxGenJS Presentation</dc:subject>
  <dc:creator>PptxGenJS</dc:creator>
  <cp:lastModifiedBy>Oier Martinez-Mateos</cp:lastModifiedBy>
  <cp:revision>7</cp:revision>
  <dcterms:created xsi:type="dcterms:W3CDTF">2026-04-20T11:18:30Z</dcterms:created>
  <dcterms:modified xsi:type="dcterms:W3CDTF">2026-05-07T08:23:12Z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9a456-2778-4ca9-be06-1190b1e1118a_Enabled">
    <vt:lpwstr>true</vt:lpwstr>
  </property>
  <property fmtid="{D5CDD505-2E9C-101B-9397-08002B2CF9AE}" pid="3" name="MSIP_Label_09e9a456-2778-4ca9-be06-1190b1e1118a_SetDate">
    <vt:lpwstr>2026-05-07T08:23:09Z</vt:lpwstr>
  </property>
  <property fmtid="{D5CDD505-2E9C-101B-9397-08002B2CF9AE}" pid="4" name="MSIP_Label_09e9a456-2778-4ca9-be06-1190b1e1118a_Method">
    <vt:lpwstr>Standard</vt:lpwstr>
  </property>
  <property fmtid="{D5CDD505-2E9C-101B-9397-08002B2CF9AE}" pid="5" name="MSIP_Label_09e9a456-2778-4ca9-be06-1190b1e1118a_Name">
    <vt:lpwstr>D3</vt:lpwstr>
  </property>
  <property fmtid="{D5CDD505-2E9C-101B-9397-08002B2CF9AE}" pid="6" name="MSIP_Label_09e9a456-2778-4ca9-be06-1190b1e1118a_SiteId">
    <vt:lpwstr>658ba197-6c73-4fea-91bd-1c7d8de6bf2c</vt:lpwstr>
  </property>
  <property fmtid="{D5CDD505-2E9C-101B-9397-08002B2CF9AE}" pid="7" name="MSIP_Label_09e9a456-2778-4ca9-be06-1190b1e1118a_ActionId">
    <vt:lpwstr>ab530723-7410-4c71-8c70-a8e00421a15e</vt:lpwstr>
  </property>
  <property fmtid="{D5CDD505-2E9C-101B-9397-08002B2CF9AE}" pid="8" name="MSIP_Label_09e9a456-2778-4ca9-be06-1190b1e1118a_ContentBits">
    <vt:lpwstr>0</vt:lpwstr>
  </property>
  <property fmtid="{D5CDD505-2E9C-101B-9397-08002B2CF9AE}" pid="9" name="MSIP_Label_09e9a456-2778-4ca9-be06-1190b1e1118a_Tag">
    <vt:lpwstr>10, 3, 0, 1</vt:lpwstr>
  </property>
</Properties>
</file>